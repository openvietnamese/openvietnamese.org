
<file path=[Content_Types].xml><?xml version="1.0" encoding="utf-8"?>
<Types xmlns="http://schemas.openxmlformats.org/package/2006/content-types"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JbnSCLpf5qGe0uxPyvkaSx8L3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 </a:t>
            </a:r>
            <a:r>
              <a:rPr lang="en-US" dirty="0" err="1"/>
              <a:t>trâu</a:t>
            </a:r>
            <a:r>
              <a:rPr lang="en-US" dirty="0"/>
              <a:t> </a:t>
            </a:r>
            <a:r>
              <a:rPr lang="en-US" dirty="0" err="1"/>
              <a:t>ăn</a:t>
            </a:r>
            <a:r>
              <a:rPr lang="en-US" dirty="0"/>
              <a:t> </a:t>
            </a:r>
            <a:r>
              <a:rPr lang="en-US" dirty="0" err="1"/>
              <a:t>cỏ</a:t>
            </a:r>
            <a:r>
              <a:rPr lang="en-US" dirty="0"/>
              <a:t>, con </a:t>
            </a:r>
            <a:r>
              <a:rPr lang="en-US" dirty="0" err="1"/>
              <a:t>thỏ</a:t>
            </a:r>
            <a:r>
              <a:rPr lang="en-US" dirty="0"/>
              <a:t> </a:t>
            </a:r>
            <a:r>
              <a:rPr lang="en-US" dirty="0" err="1"/>
              <a:t>ăn</a:t>
            </a:r>
            <a:r>
              <a:rPr lang="en-US" dirty="0"/>
              <a:t> </a:t>
            </a:r>
            <a:r>
              <a:rPr lang="en-US" dirty="0" err="1"/>
              <a:t>rau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48B84FA-BBCF-C33D-A45D-FD688C13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534E39E-FC5C-544F-654E-92DF36AE3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2831A5EA-F17C-6D7C-59E9-3A8BB9AC3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964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6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4.png"/><Relationship Id="rId5" Type="http://schemas.microsoft.com/office/2007/relationships/media" Target="../media/media3.mp3"/><Relationship Id="rId10" Type="http://schemas.openxmlformats.org/officeDocument/2006/relationships/notesSlide" Target="../notesSlides/notesSlide6.xml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810500" y="571500"/>
            <a:ext cx="3619500" cy="5715000"/>
            <a:chOff x="0" y="0"/>
            <a:chExt cx="3619500" cy="5715000"/>
          </a:xfrm>
        </p:grpSpPr>
        <p:pic>
          <p:nvPicPr>
            <p:cNvPr id="89" name="Google Shape;89;p1" descr="A minimalist and elegant watercolor painting of a single soft pink lotus flower with a delicate green stem and leaf, set against a clean, warm textured cream background, artistic Vietnamese cultural motif, professional presentation style."/>
            <p:cNvPicPr preferRelativeResize="0"/>
            <p:nvPr/>
          </p:nvPicPr>
          <p:blipFill rotWithShape="1">
            <a:blip r:embed="rId4">
              <a:alphaModFix/>
            </a:blip>
            <a:srcRect l="7777" r="7777"/>
            <a:stretch/>
          </p:blipFill>
          <p:spPr>
            <a:xfrm>
              <a:off x="0" y="0"/>
              <a:ext cx="3619500" cy="5715000"/>
            </a:xfrm>
            <a:prstGeom prst="roundRect">
              <a:avLst>
                <a:gd name="adj" fmla="val 5263"/>
              </a:avLst>
            </a:prstGeom>
            <a:noFill/>
            <a:ln>
              <a:noFill/>
            </a:ln>
          </p:spPr>
        </p:pic>
        <p:sp>
          <p:nvSpPr>
            <p:cNvPr id="90" name="Google Shape;90;p1"/>
            <p:cNvSpPr/>
            <p:nvPr/>
          </p:nvSpPr>
          <p:spPr>
            <a:xfrm>
              <a:off x="0" y="0"/>
              <a:ext cx="3619500" cy="5715000"/>
            </a:xfrm>
            <a:prstGeom prst="roundRect">
              <a:avLst>
                <a:gd name="adj" fmla="val 5263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D8CC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952500" y="1428750"/>
            <a:ext cx="62865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8A6A1F"/>
                </a:solidFill>
                <a:latin typeface="Arial"/>
                <a:ea typeface="Arial"/>
                <a:cs typeface="Arial"/>
                <a:sym typeface="Arial"/>
              </a:rPr>
              <a:t>VIET 101 · SECTIONS 001 &amp; 002</a:t>
            </a:r>
            <a:endParaRPr sz="1400" b="1">
              <a:solidFill>
                <a:srgbClr val="8A6A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6800" b="1">
                <a:solidFill>
                  <a:srgbClr val="201810"/>
                </a:solidFill>
                <a:latin typeface="Arial"/>
                <a:ea typeface="Arial"/>
                <a:cs typeface="Arial"/>
                <a:sym typeface="Arial"/>
              </a:rPr>
              <a:t>Tiếng Việt 101</a:t>
            </a:r>
            <a:endParaRPr sz="6800" b="1">
              <a:solidFill>
                <a:srgbClr val="20181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Elementary Vietnamese I</a:t>
            </a:r>
            <a:endParaRPr sz="2400" i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1600" b="1">
                <a:solidFill>
                  <a:srgbClr val="5C5240"/>
                </a:solidFill>
                <a:latin typeface="Arial"/>
                <a:ea typeface="Arial"/>
                <a:cs typeface="Arial"/>
                <a:sym typeface="Arial"/>
              </a:rPr>
              <a:t>Monday, August 17, 2026</a:t>
            </a:r>
            <a:endParaRPr sz="1600" b="1">
              <a:solidFill>
                <a:srgbClr val="5C52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2"/>
          <p:cNvGrpSpPr/>
          <p:nvPr/>
        </p:nvGrpSpPr>
        <p:grpSpPr>
          <a:xfrm>
            <a:off x="7810500" y="571500"/>
            <a:ext cx="3619500" cy="5715000"/>
            <a:chOff x="0" y="0"/>
            <a:chExt cx="3619500" cy="5715000"/>
          </a:xfrm>
        </p:grpSpPr>
        <p:pic>
          <p:nvPicPr>
            <p:cNvPr id="98" name="Google Shape;98;p2"/>
            <p:cNvPicPr preferRelativeResize="0"/>
            <p:nvPr/>
          </p:nvPicPr>
          <p:blipFill rotWithShape="1">
            <a:blip r:embed="rId4">
              <a:alphaModFix/>
            </a:blip>
            <a:srcRect l="7777" t="219" r="7777" b="229"/>
            <a:stretch/>
          </p:blipFill>
          <p:spPr>
            <a:xfrm>
              <a:off x="0" y="0"/>
              <a:ext cx="3619500" cy="5715000"/>
            </a:xfrm>
            <a:prstGeom prst="roundRect">
              <a:avLst>
                <a:gd name="adj" fmla="val 5263"/>
              </a:avLst>
            </a:prstGeom>
            <a:noFill/>
            <a:ln>
              <a:noFill/>
            </a:ln>
          </p:spPr>
        </p:pic>
        <p:sp>
          <p:nvSpPr>
            <p:cNvPr id="99" name="Google Shape;99;p2"/>
            <p:cNvSpPr/>
            <p:nvPr/>
          </p:nvSpPr>
          <p:spPr>
            <a:xfrm>
              <a:off x="0" y="0"/>
              <a:ext cx="3619500" cy="5715000"/>
            </a:xfrm>
            <a:prstGeom prst="roundRect">
              <a:avLst>
                <a:gd name="adj" fmla="val 5263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D8CC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952500" y="1047750"/>
            <a:ext cx="6286500" cy="4762500"/>
            <a:chOff x="0" y="0"/>
            <a:chExt cx="6286500" cy="4762500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6286500" cy="476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0"/>
              <a:ext cx="62865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9C2B26"/>
                  </a:solidFill>
                  <a:latin typeface="Arial"/>
                  <a:ea typeface="Arial"/>
                  <a:cs typeface="Arial"/>
                  <a:sym typeface="Arial"/>
                </a:rPr>
                <a:t>0:00–0:05 · WELCOME</a:t>
              </a:r>
              <a:endParaRPr sz="14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3200" b="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Today, we’re not going to dive into grammar or walk through the syllabus.</a:t>
              </a:r>
              <a:endParaRPr sz="3200" b="0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2000" b="0" i="1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Instead, we’ll get to know what learning Vietnamese can look and feel like in this course, and begin our journey together.</a:t>
              </a:r>
              <a:endParaRPr sz="2000" b="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952500" y="1714500"/>
            <a:ext cx="3810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THE 50 MIN AHEAD</a:t>
            </a:r>
            <a:endParaRPr sz="13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44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Four Activities</a:t>
            </a:r>
            <a:endParaRPr sz="440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08" name="Google Shape;108;p3"/>
          <p:cNvGrpSpPr/>
          <p:nvPr/>
        </p:nvGrpSpPr>
        <p:grpSpPr>
          <a:xfrm>
            <a:off x="5467350" y="1428750"/>
            <a:ext cx="5772300" cy="3810000"/>
            <a:chOff x="5467350" y="1428750"/>
            <a:chExt cx="5772300" cy="3810000"/>
          </a:xfrm>
        </p:grpSpPr>
        <p:cxnSp>
          <p:nvCxnSpPr>
            <p:cNvPr id="109" name="Google Shape;109;p3"/>
            <p:cNvCxnSpPr/>
            <p:nvPr/>
          </p:nvCxnSpPr>
          <p:spPr>
            <a:xfrm>
              <a:off x="5524500" y="1571625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D8CCA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0" name="Google Shape;110;p3"/>
            <p:cNvSpPr/>
            <p:nvPr/>
          </p:nvSpPr>
          <p:spPr>
            <a:xfrm>
              <a:off x="5467350" y="1657350"/>
              <a:ext cx="114300" cy="114300"/>
            </a:xfrm>
            <a:prstGeom prst="ellipse">
              <a:avLst/>
            </a:prstGeom>
            <a:solidFill>
              <a:srgbClr val="9C2B2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467350" y="2466975"/>
              <a:ext cx="114300" cy="114300"/>
            </a:xfrm>
            <a:prstGeom prst="ellipse">
              <a:avLst/>
            </a:prstGeom>
            <a:solidFill>
              <a:srgbClr val="8A6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467350" y="3276600"/>
              <a:ext cx="114300" cy="114300"/>
            </a:xfrm>
            <a:prstGeom prst="ellipse">
              <a:avLst/>
            </a:prstGeom>
            <a:solidFill>
              <a:srgbClr val="8A6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467350" y="4086225"/>
              <a:ext cx="114300" cy="114300"/>
            </a:xfrm>
            <a:prstGeom prst="ellipse">
              <a:avLst/>
            </a:prstGeom>
            <a:solidFill>
              <a:srgbClr val="8A6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467350" y="4895850"/>
              <a:ext cx="114300" cy="114300"/>
            </a:xfrm>
            <a:prstGeom prst="ellipse">
              <a:avLst/>
            </a:prstGeom>
            <a:solidFill>
              <a:srgbClr val="5C524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5810250" y="1428750"/>
              <a:ext cx="542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rPr>
                <a:t>0:05–0:15		</a:t>
              </a:r>
              <a:r>
                <a:rPr lang="en-US" sz="20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Bingo icebreaker</a:t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5810250" y="2238375"/>
              <a:ext cx="542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rPr>
                <a:t>0:15–0:23		</a:t>
              </a:r>
              <a:r>
                <a:rPr lang="en-US" sz="20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Dictogloss task</a:t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5810250" y="3048000"/>
              <a:ext cx="542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rPr>
                <a:t>0:23–0:33		</a:t>
              </a:r>
              <a:r>
                <a:rPr lang="en-US" sz="20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Storytelling time</a:t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5810250" y="3857625"/>
              <a:ext cx="542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rPr>
                <a:t>0:33–0:43		</a:t>
              </a:r>
              <a:r>
                <a:rPr lang="en-US" sz="20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Craft activity</a:t>
              </a:r>
              <a:endParaRPr/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5810250" y="4667250"/>
              <a:ext cx="542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rPr>
                <a:t>0:43–0:50		</a:t>
              </a:r>
              <a:r>
                <a:rPr lang="en-US" sz="20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Wrap-up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5619750" y="476250"/>
            <a:ext cx="6096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0:05–0:15 · BINGO ICEBREAKER</a:t>
            </a:r>
            <a:endParaRPr sz="11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619750" y="762000"/>
            <a:ext cx="60960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6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Tìm người mà…</a:t>
            </a:r>
            <a:endParaRPr sz="296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619750" y="1285875"/>
            <a:ext cx="6096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Find a classmate</a:t>
            </a:r>
            <a:endParaRPr sz="1600" b="0" i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 t="90" b="100"/>
          <a:stretch/>
        </p:blipFill>
        <p:spPr>
          <a:xfrm>
            <a:off x="476250" y="476250"/>
            <a:ext cx="4572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476250" y="476250"/>
            <a:ext cx="4572000" cy="5905500"/>
          </a:xfrm>
          <a:prstGeom prst="roundRect">
            <a:avLst>
              <a:gd name="adj" fmla="val 3333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E3DA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4"/>
          <p:cNvGrpSpPr/>
          <p:nvPr/>
        </p:nvGrpSpPr>
        <p:grpSpPr>
          <a:xfrm>
            <a:off x="5619750" y="1905000"/>
            <a:ext cx="6096000" cy="952500"/>
            <a:chOff x="0" y="0"/>
            <a:chExt cx="6096000" cy="952500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9C2B26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0" y="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9C2B26"/>
                  </a:solidFill>
                  <a:latin typeface="Arial"/>
                  <a:ea typeface="Arial"/>
                  <a:cs typeface="Arial"/>
                  <a:sym typeface="Arial"/>
                </a:rPr>
                <a:t>MINGLE</a:t>
              </a:r>
              <a:endParaRPr sz="9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952500" y="0"/>
              <a:ext cx="514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~7–8 minutes</a:t>
              </a:r>
              <a:endParaRPr sz="18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Sign </a:t>
              </a:r>
              <a:r>
                <a:rPr lang="en-US" sz="1400" b="1">
                  <a:solidFill>
                    <a:srgbClr val="9C2B26"/>
                  </a:solidFill>
                  <a:latin typeface="Georgia"/>
                  <a:ea typeface="Georgia"/>
                  <a:cs typeface="Georgia"/>
                  <a:sym typeface="Georgia"/>
                </a:rPr>
                <a:t>one square per person</a:t>
              </a:r>
              <a:r>
                <a:rPr lang="en-US" sz="1400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  <a:endParaRPr sz="1400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33" name="Google Shape;133;p4"/>
          <p:cNvGrpSpPr/>
          <p:nvPr/>
        </p:nvGrpSpPr>
        <p:grpSpPr>
          <a:xfrm>
            <a:off x="5619750" y="3048000"/>
            <a:ext cx="6096000" cy="1047900"/>
            <a:chOff x="0" y="0"/>
            <a:chExt cx="6096000" cy="1047900"/>
          </a:xfrm>
        </p:grpSpPr>
        <p:sp>
          <p:nvSpPr>
            <p:cNvPr id="134" name="Google Shape;134;p4"/>
            <p:cNvSpPr/>
            <p:nvPr/>
          </p:nvSpPr>
          <p:spPr>
            <a:xfrm>
              <a:off x="0" y="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8A6A1F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0" y="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rPr>
                <a:t>BOARD</a:t>
              </a:r>
              <a:endParaRPr sz="900" b="1">
                <a:solidFill>
                  <a:srgbClr val="8A6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952500" y="0"/>
              <a:ext cx="5143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8A6A1F"/>
                  </a:solidFill>
                  <a:latin typeface="Georgia"/>
                  <a:ea typeface="Georgia"/>
                  <a:cs typeface="Georgia"/>
                  <a:sym typeface="Georgia"/>
                </a:rPr>
                <a:t>The Prompts</a:t>
              </a:r>
              <a:endParaRPr sz="1800" b="1">
                <a:solidFill>
                  <a:srgbClr val="8A6A1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Get-to-know-you, </a:t>
              </a:r>
              <a:r>
                <a:rPr lang="en-US" sz="1400" b="1">
                  <a:solidFill>
                    <a:srgbClr val="9C2B26"/>
                  </a:solidFill>
                  <a:latin typeface="Georgia"/>
                  <a:ea typeface="Georgia"/>
                  <a:cs typeface="Georgia"/>
                  <a:sym typeface="Georgia"/>
                </a:rPr>
                <a:t>UNC campus &amp; spirit</a:t>
              </a:r>
              <a:r>
                <a:rPr lang="en-US" sz="14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, and </a:t>
              </a:r>
              <a:r>
                <a:rPr lang="en-US" sz="1400" b="1">
                  <a:solidFill>
                    <a:srgbClr val="9C2B26"/>
                  </a:solidFill>
                  <a:latin typeface="Georgia"/>
                  <a:ea typeface="Georgia"/>
                  <a:cs typeface="Georgia"/>
                  <a:sym typeface="Georgia"/>
                </a:rPr>
                <a:t>sports &amp; music</a:t>
              </a:r>
              <a:r>
                <a:rPr lang="en-US" sz="14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 prompts.</a:t>
              </a:r>
              <a:endParaRPr sz="1400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37" name="Google Shape;137;p4"/>
          <p:cNvGrpSpPr/>
          <p:nvPr/>
        </p:nvGrpSpPr>
        <p:grpSpPr>
          <a:xfrm>
            <a:off x="5619750" y="4333875"/>
            <a:ext cx="6096000" cy="952500"/>
            <a:chOff x="0" y="0"/>
            <a:chExt cx="6096000" cy="952500"/>
          </a:xfrm>
        </p:grpSpPr>
        <p:sp>
          <p:nvSpPr>
            <p:cNvPr id="138" name="Google Shape;138;p4"/>
            <p:cNvSpPr/>
            <p:nvPr/>
          </p:nvSpPr>
          <p:spPr>
            <a:xfrm>
              <a:off x="0" y="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5C5240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5C5240"/>
                  </a:solidFill>
                  <a:latin typeface="Arial"/>
                  <a:ea typeface="Arial"/>
                  <a:cs typeface="Arial"/>
                  <a:sym typeface="Arial"/>
                </a:rPr>
                <a:t>CENTER</a:t>
              </a:r>
              <a:endParaRPr sz="900" b="1">
                <a:solidFill>
                  <a:srgbClr val="5C52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952500" y="0"/>
              <a:ext cx="514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Free Space</a:t>
              </a:r>
              <a:endParaRPr sz="1800" b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A free space, waiting quietly to matter later.</a:t>
              </a:r>
              <a:endParaRPr sz="14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41" name="Google Shape;141;p4"/>
          <p:cNvSpPr txBox="1"/>
          <p:nvPr/>
        </p:nvSpPr>
        <p:spPr>
          <a:xfrm>
            <a:off x="5619750" y="5524500"/>
            <a:ext cx="6096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First to fill a row calls “Bingo!” — or we just see who fills the most.</a:t>
            </a:r>
            <a:endParaRPr sz="1400" i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952500" y="762000"/>
            <a:ext cx="102870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0:15–0:23 · DICTOGLOSS</a:t>
            </a:r>
            <a:endParaRPr sz="14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Nghe và viết</a:t>
            </a:r>
            <a:endParaRPr sz="480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2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Listen, and write</a:t>
            </a:r>
            <a:endParaRPr sz="2200" i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952500" y="3048000"/>
            <a:ext cx="30480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3600" b="1">
              <a:solidFill>
                <a:srgbClr val="9C2B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Nghe · Listen</a:t>
            </a:r>
            <a:endParaRPr sz="180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You are going to listen to a Vietnamese saying a few times. Don't worry what it means...</a:t>
            </a:r>
            <a:endParaRPr sz="1400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4572000" y="3048000"/>
            <a:ext cx="30480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8A6A1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3600" b="1">
              <a:solidFill>
                <a:srgbClr val="8A6A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Viết · Write</a:t>
            </a:r>
            <a:endParaRPr sz="180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...just write what you hear. Use English letters to write your best guess.</a:t>
            </a:r>
            <a:endParaRPr sz="1400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8191500" y="3048000"/>
            <a:ext cx="30480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3600" b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Chia sẻ · Share</a:t>
            </a:r>
            <a:endParaRPr sz="180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Compare with a neighbor → share aloud.</a:t>
            </a:r>
            <a:endParaRPr sz="1400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/>
        </p:nvSpPr>
        <p:spPr>
          <a:xfrm>
            <a:off x="952500" y="571500"/>
            <a:ext cx="10287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0:15–0:23 · DICTOGLOSS</a:t>
            </a:r>
            <a:endParaRPr sz="11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Nghe giọng vùng miền</a:t>
            </a:r>
            <a:endParaRPr sz="360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Regional Accent Listening Practice</a:t>
            </a:r>
            <a:endParaRPr sz="1800" i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58" name="Google Shape;158;p6"/>
          <p:cNvGrpSpPr/>
          <p:nvPr/>
        </p:nvGrpSpPr>
        <p:grpSpPr>
          <a:xfrm>
            <a:off x="952500" y="2095500"/>
            <a:ext cx="4857900" cy="4000500"/>
            <a:chOff x="0" y="0"/>
            <a:chExt cx="4857900" cy="4000500"/>
          </a:xfrm>
        </p:grpSpPr>
        <p:sp>
          <p:nvSpPr>
            <p:cNvPr id="159" name="Google Shape;159;p6"/>
            <p:cNvSpPr/>
            <p:nvPr/>
          </p:nvSpPr>
          <p:spPr>
            <a:xfrm>
              <a:off x="0" y="0"/>
              <a:ext cx="4857900" cy="4000500"/>
            </a:xfrm>
            <a:prstGeom prst="roundRect">
              <a:avLst>
                <a:gd name="adj" fmla="val 5714"/>
              </a:avLst>
            </a:prstGeom>
            <a:solidFill>
              <a:srgbClr val="F4EFE6"/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333375" y="333375"/>
              <a:ext cx="266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rPr>
                <a:t>PHƯƠNG NGỮ BẮC</a:t>
              </a:r>
              <a:endParaRPr sz="1100" b="1">
                <a:solidFill>
                  <a:srgbClr val="8A6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Northern Accent</a:t>
              </a:r>
              <a:endParaRPr sz="24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61" name="Google Shape;161;p6"/>
            <p:cNvGrpSpPr/>
            <p:nvPr/>
          </p:nvGrpSpPr>
          <p:grpSpPr>
            <a:xfrm>
              <a:off x="333375" y="1333500"/>
              <a:ext cx="2667000" cy="762000"/>
              <a:chOff x="0" y="0"/>
              <a:chExt cx="2667000" cy="762000"/>
            </a:xfrm>
          </p:grpSpPr>
          <p:sp>
            <p:nvSpPr>
              <p:cNvPr id="162" name="Google Shape;162;p6"/>
              <p:cNvSpPr/>
              <p:nvPr/>
            </p:nvSpPr>
            <p:spPr>
              <a:xfrm>
                <a:off x="0" y="0"/>
                <a:ext cx="26670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 cap="flat" cmpd="sng">
                <a:solidFill>
                  <a:srgbClr val="E3DAC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6"/>
              <p:cNvSpPr txBox="1"/>
              <p:nvPr/>
            </p:nvSpPr>
            <p:spPr>
              <a:xfrm>
                <a:off x="762000" y="14287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Northern / F</a:t>
                </a:r>
                <a:endParaRPr sz="1600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165" name="Google Shape;165;p6"/>
            <p:cNvGrpSpPr/>
            <p:nvPr/>
          </p:nvGrpSpPr>
          <p:grpSpPr>
            <a:xfrm>
              <a:off x="333375" y="2286000"/>
              <a:ext cx="2667000" cy="762000"/>
              <a:chOff x="0" y="0"/>
              <a:chExt cx="2667000" cy="762000"/>
            </a:xfrm>
          </p:grpSpPr>
          <p:sp>
            <p:nvSpPr>
              <p:cNvPr id="166" name="Google Shape;166;p6"/>
              <p:cNvSpPr/>
              <p:nvPr/>
            </p:nvSpPr>
            <p:spPr>
              <a:xfrm>
                <a:off x="0" y="0"/>
                <a:ext cx="26670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 cap="flat" cmpd="sng">
                <a:solidFill>
                  <a:srgbClr val="E3DAC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6"/>
              <p:cNvSpPr txBox="1"/>
              <p:nvPr/>
            </p:nvSpPr>
            <p:spPr>
              <a:xfrm>
                <a:off x="762000" y="14287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Northern / M</a:t>
                </a:r>
                <a:endParaRPr sz="1600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grpSp>
        <p:nvGrpSpPr>
          <p:cNvPr id="169" name="Google Shape;169;p6"/>
          <p:cNvGrpSpPr/>
          <p:nvPr/>
        </p:nvGrpSpPr>
        <p:grpSpPr>
          <a:xfrm>
            <a:off x="6381750" y="2095500"/>
            <a:ext cx="4857900" cy="4000500"/>
            <a:chOff x="0" y="0"/>
            <a:chExt cx="4857900" cy="4000500"/>
          </a:xfrm>
        </p:grpSpPr>
        <p:sp>
          <p:nvSpPr>
            <p:cNvPr id="170" name="Google Shape;170;p6"/>
            <p:cNvSpPr/>
            <p:nvPr/>
          </p:nvSpPr>
          <p:spPr>
            <a:xfrm>
              <a:off x="0" y="0"/>
              <a:ext cx="4857900" cy="4000500"/>
            </a:xfrm>
            <a:prstGeom prst="roundRect">
              <a:avLst>
                <a:gd name="adj" fmla="val 5714"/>
              </a:avLst>
            </a:prstGeom>
            <a:solidFill>
              <a:srgbClr val="F4EFE6"/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333375" y="333375"/>
              <a:ext cx="266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C2B26"/>
                  </a:solidFill>
                  <a:latin typeface="Arial"/>
                  <a:ea typeface="Arial"/>
                  <a:cs typeface="Arial"/>
                  <a:sym typeface="Arial"/>
                </a:rPr>
                <a:t>PHƯƠNG NGỮ NAM</a:t>
              </a:r>
              <a:endParaRPr sz="11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Southern Accent</a:t>
              </a:r>
              <a:endParaRPr sz="24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72" name="Google Shape;172;p6"/>
            <p:cNvGrpSpPr/>
            <p:nvPr/>
          </p:nvGrpSpPr>
          <p:grpSpPr>
            <a:xfrm>
              <a:off x="333375" y="1333500"/>
              <a:ext cx="2667000" cy="762000"/>
              <a:chOff x="0" y="0"/>
              <a:chExt cx="2667000" cy="762000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0" y="0"/>
                <a:ext cx="26670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 cap="flat" cmpd="sng">
                <a:solidFill>
                  <a:srgbClr val="E3DAC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6"/>
              <p:cNvSpPr txBox="1"/>
              <p:nvPr/>
            </p:nvSpPr>
            <p:spPr>
              <a:xfrm>
                <a:off x="762000" y="14287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Southern / F</a:t>
                </a:r>
                <a:endParaRPr sz="1600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176" name="Google Shape;176;p6"/>
            <p:cNvGrpSpPr/>
            <p:nvPr/>
          </p:nvGrpSpPr>
          <p:grpSpPr>
            <a:xfrm>
              <a:off x="333375" y="2286000"/>
              <a:ext cx="2667000" cy="762000"/>
              <a:chOff x="0" y="0"/>
              <a:chExt cx="2667000" cy="7620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26670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 cap="flat" cmpd="sng">
                <a:solidFill>
                  <a:srgbClr val="E3DAC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6"/>
              <p:cNvSpPr txBox="1"/>
              <p:nvPr/>
            </p:nvSpPr>
            <p:spPr>
              <a:xfrm>
                <a:off x="762000" y="142875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Southern / M</a:t>
                </a:r>
                <a:endParaRPr sz="1600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pic>
        <p:nvPicPr>
          <p:cNvPr id="2" name="Con trâu ăn cỏ Con t (2)">
            <a:hlinkClick r:id="" action="ppaction://media"/>
            <a:extLst>
              <a:ext uri="{FF2B5EF4-FFF2-40B4-BE49-F238E27FC236}">
                <a16:creationId xmlns:a16="http://schemas.microsoft.com/office/drawing/2014/main" id="{F432A0FA-52FB-8A13-7B8F-84664E1591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428750" y="3595463"/>
            <a:ext cx="476400" cy="476400"/>
          </a:xfrm>
          <a:prstGeom prst="rect">
            <a:avLst/>
          </a:prstGeom>
        </p:spPr>
      </p:pic>
      <p:pic>
        <p:nvPicPr>
          <p:cNvPr id="3" name="Con trâu ăn cỏ Con t (4)">
            <a:hlinkClick r:id="" action="ppaction://media"/>
            <a:extLst>
              <a:ext uri="{FF2B5EF4-FFF2-40B4-BE49-F238E27FC236}">
                <a16:creationId xmlns:a16="http://schemas.microsoft.com/office/drawing/2014/main" id="{1BA19A0B-1AF6-6779-53CB-4EE64C21E08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428674" y="4524300"/>
            <a:ext cx="476475" cy="476475"/>
          </a:xfrm>
          <a:prstGeom prst="rect">
            <a:avLst/>
          </a:prstGeom>
        </p:spPr>
      </p:pic>
      <p:pic>
        <p:nvPicPr>
          <p:cNvPr id="4" name="Con trâu ăn cỏ Con t">
            <a:hlinkClick r:id="" action="ppaction://media"/>
            <a:extLst>
              <a:ext uri="{FF2B5EF4-FFF2-40B4-BE49-F238E27FC236}">
                <a16:creationId xmlns:a16="http://schemas.microsoft.com/office/drawing/2014/main" id="{E41B0512-E04E-2CC4-9D7A-E30E2E25237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810225" y="3571875"/>
            <a:ext cx="476400" cy="476400"/>
          </a:xfrm>
          <a:prstGeom prst="rect">
            <a:avLst/>
          </a:prstGeom>
        </p:spPr>
      </p:pic>
      <p:pic>
        <p:nvPicPr>
          <p:cNvPr id="5" name="Con trâu ăn cỏ Con t (1)">
            <a:hlinkClick r:id="" action="ppaction://media"/>
            <a:extLst>
              <a:ext uri="{FF2B5EF4-FFF2-40B4-BE49-F238E27FC236}">
                <a16:creationId xmlns:a16="http://schemas.microsoft.com/office/drawing/2014/main" id="{D82AD699-175A-7F99-F916-259009204C45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810225" y="4524375"/>
            <a:ext cx="476400" cy="476400"/>
          </a:xfrm>
          <a:prstGeom prst="rect">
            <a:avLst/>
          </a:prstGeom>
        </p:spPr>
      </p:pic>
      <p:pic>
        <p:nvPicPr>
          <p:cNvPr id="6" name="Google Shape;194;p7">
            <a:extLst>
              <a:ext uri="{FF2B5EF4-FFF2-40B4-BE49-F238E27FC236}">
                <a16:creationId xmlns:a16="http://schemas.microsoft.com/office/drawing/2014/main" id="{1F672ACD-F5F4-69E8-368C-D2591BC990F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6130" t="7031" r="7901" b="8559"/>
          <a:stretch/>
        </p:blipFill>
        <p:spPr>
          <a:xfrm>
            <a:off x="10353000" y="571500"/>
            <a:ext cx="886500" cy="874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3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3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04775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952500" y="1047750"/>
            <a:ext cx="4762500" cy="4762500"/>
          </a:xfrm>
          <a:prstGeom prst="roundRect">
            <a:avLst>
              <a:gd name="adj" fmla="val 4800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E3DA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6477000" y="1047750"/>
            <a:ext cx="4762500" cy="2378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Dictogloss</a:t>
            </a:r>
            <a:endParaRPr sz="14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Wow, you got it!</a:t>
            </a:r>
            <a:endParaRPr sz="640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6464857" y="4213775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Don't forget to check this ‘con trâu’ meme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7"/>
          <p:cNvPicPr preferRelativeResize="0"/>
          <p:nvPr/>
        </p:nvPicPr>
        <p:blipFill rotWithShape="1">
          <a:blip r:embed="rId4">
            <a:alphaModFix/>
          </a:blip>
          <a:srcRect t="110" b="100"/>
          <a:stretch/>
        </p:blipFill>
        <p:spPr>
          <a:xfrm>
            <a:off x="762000" y="381000"/>
            <a:ext cx="4572000" cy="6096000"/>
          </a:xfrm>
          <a:prstGeom prst="roundRect">
            <a:avLst>
              <a:gd name="adj" fmla="val 3333"/>
            </a:avLst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5905500" y="762000"/>
            <a:ext cx="5524500" cy="533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THE REVEAL</a:t>
            </a:r>
            <a:endParaRPr sz="14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rPr>
              <a:t>Con trâu ăn c</a:t>
            </a:r>
            <a:r>
              <a:rPr lang="en-US" sz="4800" b="1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ỏ</a:t>
            </a:r>
            <a:r>
              <a:rPr lang="en-US" sz="4800" b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rPr>
              <a:t>,</a:t>
            </a:r>
            <a:br>
              <a:rPr lang="en-US" sz="4800" b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4800" b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rPr>
              <a:t>Con th</a:t>
            </a:r>
            <a:r>
              <a:rPr lang="en-US" sz="4800" b="1">
                <a:solidFill>
                  <a:schemeClr val="accent5"/>
                </a:solidFill>
                <a:latin typeface="Georgia"/>
                <a:ea typeface="Georgia"/>
                <a:cs typeface="Georgia"/>
                <a:sym typeface="Georgia"/>
              </a:rPr>
              <a:t>ỏ</a:t>
            </a:r>
            <a:r>
              <a:rPr lang="en-US" sz="4800" b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rPr>
              <a:t> ăn rau</a:t>
            </a:r>
            <a:endParaRPr sz="4800" b="1">
              <a:solidFill>
                <a:srgbClr val="9C2B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The buffalo eats grass, the rabbit eats vegetables.</a:t>
            </a:r>
            <a:endParaRPr sz="1700" i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sz="1600" i="1">
              <a:solidFill>
                <a:srgbClr val="7A6E5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7A6E5D"/>
                </a:solidFill>
                <a:latin typeface="Georgia"/>
                <a:ea typeface="Georgia"/>
                <a:cs typeface="Georgia"/>
                <a:sym typeface="Georgia"/>
              </a:rPr>
              <a:t>This is the program's mascot. </a:t>
            </a:r>
            <a:endParaRPr sz="1600" i="1">
              <a:solidFill>
                <a:srgbClr val="7A6E5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7A6E5D"/>
                </a:solidFill>
                <a:latin typeface="Georgia"/>
                <a:ea typeface="Georgia"/>
                <a:cs typeface="Georgia"/>
                <a:sym typeface="Georgia"/>
              </a:rPr>
              <a:t>You'll find out why in a few weeks.</a:t>
            </a:r>
            <a:endParaRPr sz="1600" i="1">
              <a:solidFill>
                <a:srgbClr val="7A6E5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5">
            <a:alphaModFix/>
          </a:blip>
          <a:srcRect l="6130" t="7031" r="7901" b="8559"/>
          <a:stretch/>
        </p:blipFill>
        <p:spPr>
          <a:xfrm>
            <a:off x="9289725" y="4480918"/>
            <a:ext cx="886500" cy="874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5816700" y="6036517"/>
            <a:ext cx="598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4CACC6"/>
                </a:solidFill>
                <a:latin typeface="Georgia"/>
                <a:ea typeface="Georgia"/>
                <a:cs typeface="Georgia"/>
                <a:sym typeface="Georgia"/>
              </a:rPr>
              <a:t>Everything and everyone has their own natural place, role, or preference in life.</a:t>
            </a:r>
            <a:endParaRPr sz="800" i="1">
              <a:solidFill>
                <a:srgbClr val="4CACC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/>
        </p:nvSpPr>
        <p:spPr>
          <a:xfrm>
            <a:off x="1524000" y="666750"/>
            <a:ext cx="9144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0:23–0:33 · STORY</a:t>
            </a:r>
            <a:endParaRPr sz="13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524000" y="2476500"/>
            <a:ext cx="9144000" cy="19200"/>
          </a:xfrm>
          <a:prstGeom prst="rect">
            <a:avLst/>
          </a:prstGeom>
          <a:solidFill>
            <a:srgbClr val="E3DAC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1524000" y="2857500"/>
            <a:ext cx="57300" cy="2476500"/>
          </a:xfrm>
          <a:prstGeom prst="roundRect">
            <a:avLst>
              <a:gd name="adj" fmla="val 50000"/>
            </a:avLst>
          </a:prstGeom>
          <a:solidFill>
            <a:srgbClr val="9C2B2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1524000" y="1047750"/>
            <a:ext cx="9144000" cy="74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10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400 năm trước</a:t>
            </a:r>
            <a:endParaRPr sz="4810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1524000" y="1857375"/>
            <a:ext cx="9144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>
                <a:solidFill>
                  <a:srgbClr val="8A6A1F"/>
                </a:solidFill>
                <a:latin typeface="Georgia"/>
                <a:ea typeface="Georgia"/>
                <a:cs typeface="Georgia"/>
                <a:sym typeface="Georgia"/>
              </a:rPr>
              <a:t>400 years ago</a:t>
            </a:r>
            <a:endParaRPr sz="2000" b="0" i="1">
              <a:solidFill>
                <a:srgbClr val="8A6A1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1809750" y="2857500"/>
            <a:ext cx="8858400" cy="110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What you all just did, turning a sound you'd never heard into letters you already knew, is almost exactly what a small group of European missionaries did to the entire Vietnamese language.</a:t>
            </a:r>
            <a:endParaRPr sz="2400" i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1761175" y="4833100"/>
            <a:ext cx="400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17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Read the full story in English.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 txBox="1"/>
          <p:nvPr/>
        </p:nvSpPr>
        <p:spPr>
          <a:xfrm>
            <a:off x="762000" y="476250"/>
            <a:ext cx="10668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THE SHORT VERSION</a:t>
            </a:r>
            <a:endParaRPr sz="13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762000" y="762000"/>
            <a:ext cx="10668000" cy="59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85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rPr>
              <a:t>Chữ Quốc Ngữ</a:t>
            </a:r>
            <a:endParaRPr sz="3885" b="1">
              <a:solidFill>
                <a:srgbClr val="20181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762000" y="1381125"/>
            <a:ext cx="10668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how the word got written</a:t>
            </a:r>
            <a:endParaRPr sz="1800" b="0" i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15" name="Google Shape;215;p11"/>
          <p:cNvGrpSpPr/>
          <p:nvPr/>
        </p:nvGrpSpPr>
        <p:grpSpPr>
          <a:xfrm>
            <a:off x="762000" y="2000250"/>
            <a:ext cx="3238500" cy="2952900"/>
            <a:chOff x="0" y="0"/>
            <a:chExt cx="3238500" cy="2952900"/>
          </a:xfrm>
        </p:grpSpPr>
        <p:sp>
          <p:nvSpPr>
            <p:cNvPr id="216" name="Google Shape;216;p11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75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1"/>
            <p:cNvSpPr txBox="1"/>
            <p:nvPr/>
          </p:nvSpPr>
          <p:spPr>
            <a:xfrm>
              <a:off x="228600" y="228600"/>
              <a:ext cx="27813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1">
                  <a:solidFill>
                    <a:srgbClr val="8A6A1F"/>
                  </a:solidFill>
                  <a:latin typeface="Georgia"/>
                  <a:ea typeface="Georgia"/>
                  <a:cs typeface="Georgia"/>
                  <a:sym typeface="Georgia"/>
                </a:rPr>
                <a:t>1600s</a:t>
              </a:r>
              <a:endParaRPr sz="3800" b="1">
                <a:solidFill>
                  <a:srgbClr val="8A6A1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Missionaries romanize Vietnamese sound by sound, inventing tone marks the Latin alphabet never had.</a:t>
              </a:r>
              <a:endParaRPr sz="1500" b="0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18" name="Google Shape;218;p11"/>
          <p:cNvGrpSpPr/>
          <p:nvPr/>
        </p:nvGrpSpPr>
        <p:grpSpPr>
          <a:xfrm>
            <a:off x="4476750" y="2000250"/>
            <a:ext cx="3238500" cy="2952900"/>
            <a:chOff x="0" y="0"/>
            <a:chExt cx="3238500" cy="2952900"/>
          </a:xfrm>
        </p:grpSpPr>
        <p:sp>
          <p:nvSpPr>
            <p:cNvPr id="219" name="Google Shape;219;p11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75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1"/>
            <p:cNvSpPr txBox="1"/>
            <p:nvPr/>
          </p:nvSpPr>
          <p:spPr>
            <a:xfrm>
              <a:off x="228600" y="228600"/>
              <a:ext cx="27813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1">
                  <a:solidFill>
                    <a:srgbClr val="9C2B26"/>
                  </a:solidFill>
                  <a:latin typeface="Georgia"/>
                  <a:ea typeface="Georgia"/>
                  <a:cs typeface="Georgia"/>
                  <a:sym typeface="Georgia"/>
                </a:rPr>
                <a:t>1651</a:t>
              </a:r>
              <a:endParaRPr sz="3800" b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9C2B26"/>
                  </a:solidFill>
                  <a:latin typeface="Georgia"/>
                  <a:ea typeface="Georgia"/>
                  <a:cs typeface="Georgia"/>
                  <a:sym typeface="Georgia"/>
                </a:rPr>
                <a:t>Alexandre de Rhodes'</a:t>
              </a:r>
              <a:r>
                <a:rPr lang="en-US" sz="1500" b="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 trilingual dictionary standardizes the script.</a:t>
              </a:r>
              <a:endParaRPr sz="1500" b="0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21" name="Google Shape;221;p11"/>
          <p:cNvGrpSpPr/>
          <p:nvPr/>
        </p:nvGrpSpPr>
        <p:grpSpPr>
          <a:xfrm>
            <a:off x="8191500" y="2000250"/>
            <a:ext cx="3238500" cy="2952900"/>
            <a:chOff x="0" y="0"/>
            <a:chExt cx="3238500" cy="2952900"/>
          </a:xfrm>
        </p:grpSpPr>
        <p:sp>
          <p:nvSpPr>
            <p:cNvPr id="222" name="Google Shape;222;p11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75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1"/>
            <p:cNvSpPr txBox="1"/>
            <p:nvPr/>
          </p:nvSpPr>
          <p:spPr>
            <a:xfrm>
              <a:off x="228600" y="228600"/>
              <a:ext cx="27813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1">
                  <a:solidFill>
                    <a:srgbClr val="8A6A1F"/>
                  </a:solidFill>
                  <a:latin typeface="Georgia"/>
                  <a:ea typeface="Georgia"/>
                  <a:cs typeface="Georgia"/>
                  <a:sym typeface="Georgia"/>
                </a:rPr>
                <a:t>1945</a:t>
              </a:r>
              <a:endParaRPr sz="3800" b="1">
                <a:solidFill>
                  <a:srgbClr val="8A6A1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Hồ Chí Minh's</a:t>
              </a:r>
              <a:r>
                <a:rPr lang="en-US" sz="1500" b="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 literacy campaign makes it Vietnam's sole national script.</a:t>
              </a:r>
              <a:endParaRPr sz="1500" b="0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24" name="Google Shape;224;p11"/>
          <p:cNvSpPr txBox="1"/>
          <p:nvPr/>
        </p:nvSpPr>
        <p:spPr>
          <a:xfrm>
            <a:off x="762000" y="5334000"/>
            <a:ext cx="10668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rPr>
              <a:t>What you did in the dictogloss — that's what they did, for real.</a:t>
            </a:r>
            <a:endParaRPr sz="1600" b="0" i="1">
              <a:solidFill>
                <a:srgbClr val="5C52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2"/>
          <p:cNvGrpSpPr/>
          <p:nvPr/>
        </p:nvGrpSpPr>
        <p:grpSpPr>
          <a:xfrm>
            <a:off x="762000" y="476250"/>
            <a:ext cx="10668000" cy="209700"/>
            <a:chOff x="0" y="0"/>
            <a:chExt cx="10668000" cy="209700"/>
          </a:xfrm>
        </p:grpSpPr>
        <p:sp>
          <p:nvSpPr>
            <p:cNvPr id="230" name="Google Shape;230;p12"/>
            <p:cNvSpPr/>
            <p:nvPr/>
          </p:nvSpPr>
          <p:spPr>
            <a:xfrm>
              <a:off x="0" y="0"/>
              <a:ext cx="106680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2"/>
            <p:cNvSpPr txBox="1"/>
            <p:nvPr/>
          </p:nvSpPr>
          <p:spPr>
            <a:xfrm>
              <a:off x="0" y="0"/>
              <a:ext cx="10668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9C2B26"/>
                  </a:solidFill>
                  <a:latin typeface="Arial"/>
                  <a:ea typeface="Arial"/>
                  <a:cs typeface="Arial"/>
                  <a:sym typeface="Arial"/>
                </a:rPr>
                <a:t>0:33–0:43 · CRAFT</a:t>
              </a:r>
              <a:endParaRPr sz="13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12"/>
          <p:cNvGrpSpPr/>
          <p:nvPr/>
        </p:nvGrpSpPr>
        <p:grpSpPr>
          <a:xfrm>
            <a:off x="762000" y="762000"/>
            <a:ext cx="10668000" cy="609600"/>
            <a:chOff x="0" y="0"/>
            <a:chExt cx="10668000" cy="609600"/>
          </a:xfrm>
        </p:grpSpPr>
        <p:sp>
          <p:nvSpPr>
            <p:cNvPr id="233" name="Google Shape;233;p12"/>
            <p:cNvSpPr/>
            <p:nvPr/>
          </p:nvSpPr>
          <p:spPr>
            <a:xfrm>
              <a:off x="0" y="0"/>
              <a:ext cx="106680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2"/>
            <p:cNvSpPr txBox="1"/>
            <p:nvPr/>
          </p:nvSpPr>
          <p:spPr>
            <a:xfrm>
              <a:off x="0" y="0"/>
              <a:ext cx="10668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85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Trâu Lá/Giấy</a:t>
              </a:r>
              <a:endParaRPr sz="3885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35" name="Google Shape;235;p12"/>
          <p:cNvGrpSpPr/>
          <p:nvPr/>
        </p:nvGrpSpPr>
        <p:grpSpPr>
          <a:xfrm>
            <a:off x="762000" y="1381125"/>
            <a:ext cx="10668000" cy="285900"/>
            <a:chOff x="0" y="0"/>
            <a:chExt cx="10668000" cy="285900"/>
          </a:xfrm>
        </p:grpSpPr>
        <p:sp>
          <p:nvSpPr>
            <p:cNvPr id="236" name="Google Shape;236;p12"/>
            <p:cNvSpPr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2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Leaf/Paper Buffalo</a:t>
              </a:r>
              <a:endParaRPr sz="1800" b="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38" name="Google Shape;238;p12"/>
          <p:cNvGrpSpPr/>
          <p:nvPr/>
        </p:nvGrpSpPr>
        <p:grpSpPr>
          <a:xfrm>
            <a:off x="762000" y="2000250"/>
            <a:ext cx="3238500" cy="2952900"/>
            <a:chOff x="0" y="0"/>
            <a:chExt cx="3238500" cy="2952900"/>
          </a:xfrm>
        </p:grpSpPr>
        <p:sp>
          <p:nvSpPr>
            <p:cNvPr id="239" name="Google Shape;239;p12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90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" name="Google Shape;240;p12"/>
            <p:cNvGrpSpPr/>
            <p:nvPr/>
          </p:nvGrpSpPr>
          <p:grpSpPr>
            <a:xfrm>
              <a:off x="228600" y="228600"/>
              <a:ext cx="2781300" cy="2495700"/>
              <a:chOff x="0" y="0"/>
              <a:chExt cx="2781300" cy="2495700"/>
            </a:xfrm>
          </p:grpSpPr>
          <p:sp>
            <p:nvSpPr>
              <p:cNvPr id="241" name="Google Shape;241;p12"/>
              <p:cNvSpPr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2"/>
              <p:cNvSpPr txBox="1"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800" b="1">
                    <a:solidFill>
                      <a:srgbClr val="8A6A1F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1</a:t>
                </a:r>
                <a:endParaRPr sz="3800" b="1">
                  <a:solidFill>
                    <a:srgbClr val="8A6A1F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9C2B26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Tạo sừng</a:t>
                </a:r>
                <a:endParaRPr sz="1800" b="1">
                  <a:solidFill>
                    <a:srgbClr val="9C2B26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45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tear and curl the leaf's edges near the stem to make horns.</a:t>
                </a:r>
                <a:endParaRPr sz="1450" b="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grpSp>
        <p:nvGrpSpPr>
          <p:cNvPr id="243" name="Google Shape;243;p12"/>
          <p:cNvGrpSpPr/>
          <p:nvPr/>
        </p:nvGrpSpPr>
        <p:grpSpPr>
          <a:xfrm>
            <a:off x="4476750" y="2000250"/>
            <a:ext cx="3238500" cy="2952900"/>
            <a:chOff x="0" y="0"/>
            <a:chExt cx="3238500" cy="2952900"/>
          </a:xfrm>
        </p:grpSpPr>
        <p:sp>
          <p:nvSpPr>
            <p:cNvPr id="244" name="Google Shape;244;p12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90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5" name="Google Shape;245;p12"/>
            <p:cNvGrpSpPr/>
            <p:nvPr/>
          </p:nvGrpSpPr>
          <p:grpSpPr>
            <a:xfrm>
              <a:off x="228600" y="228600"/>
              <a:ext cx="2781300" cy="2495700"/>
              <a:chOff x="0" y="0"/>
              <a:chExt cx="2781300" cy="2495700"/>
            </a:xfrm>
          </p:grpSpPr>
          <p:sp>
            <p:nvSpPr>
              <p:cNvPr id="246" name="Google Shape;246;p12"/>
              <p:cNvSpPr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2"/>
              <p:cNvSpPr txBox="1"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800" b="1">
                    <a:solidFill>
                      <a:srgbClr val="8A6A1F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2</a:t>
                </a:r>
                <a:endParaRPr sz="3800" b="1">
                  <a:solidFill>
                    <a:srgbClr val="8A6A1F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9C2B26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Tạo thân</a:t>
                </a:r>
                <a:endParaRPr sz="1800" b="1">
                  <a:solidFill>
                    <a:srgbClr val="9C2B26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45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roll the long edges inward and secure with a toothpick.</a:t>
                </a:r>
                <a:endParaRPr sz="1450" b="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grpSp>
        <p:nvGrpSpPr>
          <p:cNvPr id="248" name="Google Shape;248;p12"/>
          <p:cNvGrpSpPr/>
          <p:nvPr/>
        </p:nvGrpSpPr>
        <p:grpSpPr>
          <a:xfrm>
            <a:off x="8191500" y="2000250"/>
            <a:ext cx="3238500" cy="2952900"/>
            <a:chOff x="0" y="0"/>
            <a:chExt cx="3238500" cy="2952900"/>
          </a:xfrm>
        </p:grpSpPr>
        <p:sp>
          <p:nvSpPr>
            <p:cNvPr id="249" name="Google Shape;249;p12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90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" name="Google Shape;250;p12"/>
            <p:cNvGrpSpPr/>
            <p:nvPr/>
          </p:nvGrpSpPr>
          <p:grpSpPr>
            <a:xfrm>
              <a:off x="228600" y="228600"/>
              <a:ext cx="2781300" cy="2495700"/>
              <a:chOff x="0" y="0"/>
              <a:chExt cx="2781300" cy="2495700"/>
            </a:xfrm>
          </p:grpSpPr>
          <p:sp>
            <p:nvSpPr>
              <p:cNvPr id="251" name="Google Shape;251;p12"/>
              <p:cNvSpPr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2"/>
              <p:cNvSpPr txBox="1"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800" b="1">
                    <a:solidFill>
                      <a:srgbClr val="8A6A1F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3</a:t>
                </a:r>
                <a:endParaRPr sz="3800" b="1">
                  <a:solidFill>
                    <a:srgbClr val="8A6A1F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9C2B26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Gắn dây</a:t>
                </a:r>
                <a:endParaRPr sz="1800" b="1">
                  <a:solidFill>
                    <a:srgbClr val="9C2B26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45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thread grass or string through the stem so pulling it nods the head.</a:t>
                </a:r>
                <a:endParaRPr sz="1450" b="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grpSp>
        <p:nvGrpSpPr>
          <p:cNvPr id="253" name="Google Shape;253;p12"/>
          <p:cNvGrpSpPr/>
          <p:nvPr/>
        </p:nvGrpSpPr>
        <p:grpSpPr>
          <a:xfrm>
            <a:off x="762000" y="5334000"/>
            <a:ext cx="10668000" cy="285900"/>
            <a:chOff x="0" y="0"/>
            <a:chExt cx="10668000" cy="285900"/>
          </a:xfrm>
        </p:grpSpPr>
        <p:sp>
          <p:nvSpPr>
            <p:cNvPr id="254" name="Google Shape;254;p12"/>
            <p:cNvSpPr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2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1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You just heard the word, and just heard its history. Now you make it.</a:t>
              </a:r>
              <a:endParaRPr sz="1600" b="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3"/>
          <p:cNvGrpSpPr/>
          <p:nvPr/>
        </p:nvGrpSpPr>
        <p:grpSpPr>
          <a:xfrm>
            <a:off x="762000" y="476250"/>
            <a:ext cx="10668000" cy="209700"/>
            <a:chOff x="0" y="0"/>
            <a:chExt cx="10668000" cy="209700"/>
          </a:xfrm>
        </p:grpSpPr>
        <p:sp>
          <p:nvSpPr>
            <p:cNvPr id="261" name="Google Shape;261;p13"/>
            <p:cNvSpPr/>
            <p:nvPr/>
          </p:nvSpPr>
          <p:spPr>
            <a:xfrm>
              <a:off x="0" y="0"/>
              <a:ext cx="106680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3"/>
            <p:cNvSpPr txBox="1"/>
            <p:nvPr/>
          </p:nvSpPr>
          <p:spPr>
            <a:xfrm>
              <a:off x="0" y="0"/>
              <a:ext cx="10668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9C2B26"/>
                  </a:solidFill>
                  <a:latin typeface="Arial"/>
                  <a:ea typeface="Arial"/>
                  <a:cs typeface="Arial"/>
                  <a:sym typeface="Arial"/>
                </a:rPr>
                <a:t>0:43–0:50 · WRAP-UP</a:t>
              </a:r>
              <a:endParaRPr sz="13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13"/>
          <p:cNvGrpSpPr/>
          <p:nvPr/>
        </p:nvGrpSpPr>
        <p:grpSpPr>
          <a:xfrm>
            <a:off x="762000" y="762000"/>
            <a:ext cx="10668000" cy="609600"/>
            <a:chOff x="0" y="0"/>
            <a:chExt cx="10668000" cy="609600"/>
          </a:xfrm>
        </p:grpSpPr>
        <p:sp>
          <p:nvSpPr>
            <p:cNvPr id="264" name="Google Shape;264;p13"/>
            <p:cNvSpPr/>
            <p:nvPr/>
          </p:nvSpPr>
          <p:spPr>
            <a:xfrm>
              <a:off x="0" y="0"/>
              <a:ext cx="106680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3"/>
            <p:cNvSpPr txBox="1"/>
            <p:nvPr/>
          </p:nvSpPr>
          <p:spPr>
            <a:xfrm>
              <a:off x="0" y="0"/>
              <a:ext cx="10668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85" b="1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rPr>
                <a:t>Trước thứ Tư</a:t>
              </a:r>
              <a:endParaRPr sz="3885" b="1">
                <a:solidFill>
                  <a:srgbClr val="20181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66" name="Google Shape;266;p13"/>
          <p:cNvGrpSpPr/>
          <p:nvPr/>
        </p:nvGrpSpPr>
        <p:grpSpPr>
          <a:xfrm>
            <a:off x="762000" y="1381125"/>
            <a:ext cx="10668000" cy="285900"/>
            <a:chOff x="0" y="0"/>
            <a:chExt cx="10668000" cy="285900"/>
          </a:xfrm>
        </p:grpSpPr>
        <p:sp>
          <p:nvSpPr>
            <p:cNvPr id="267" name="Google Shape;267;p13"/>
            <p:cNvSpPr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3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Before Wednesday, on Canvas</a:t>
              </a:r>
              <a:endParaRPr sz="18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69" name="Google Shape;269;p13"/>
          <p:cNvGrpSpPr/>
          <p:nvPr/>
        </p:nvGrpSpPr>
        <p:grpSpPr>
          <a:xfrm>
            <a:off x="762000" y="2000250"/>
            <a:ext cx="3238500" cy="2952900"/>
            <a:chOff x="0" y="0"/>
            <a:chExt cx="3238500" cy="2952900"/>
          </a:xfrm>
        </p:grpSpPr>
        <p:sp>
          <p:nvSpPr>
            <p:cNvPr id="270" name="Google Shape;270;p13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90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" name="Google Shape;271;p13"/>
            <p:cNvGrpSpPr/>
            <p:nvPr/>
          </p:nvGrpSpPr>
          <p:grpSpPr>
            <a:xfrm>
              <a:off x="228600" y="228600"/>
              <a:ext cx="2781300" cy="2495700"/>
              <a:chOff x="0" y="0"/>
              <a:chExt cx="2781300" cy="2495700"/>
            </a:xfrm>
          </p:grpSpPr>
          <p:sp>
            <p:nvSpPr>
              <p:cNvPr id="272" name="Google Shape;272;p13"/>
              <p:cNvSpPr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3"/>
              <p:cNvSpPr txBox="1"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8A6A1F"/>
                    </a:solidFill>
                    <a:latin typeface="Arial"/>
                    <a:ea typeface="Arial"/>
                    <a:cs typeface="Arial"/>
                    <a:sym typeface="Arial"/>
                  </a:rPr>
                  <a:t>READ &amp; ASK</a:t>
                </a:r>
                <a:endParaRPr sz="14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60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The </a:t>
                </a:r>
                <a:r>
                  <a:rPr lang="en-US" sz="1600" b="1">
                    <a:solidFill>
                      <a:srgbClr val="9C2B26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syllabus</a:t>
                </a:r>
                <a:r>
                  <a:rPr lang="en-US" sz="160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. Write down 1-2 questions.</a:t>
                </a:r>
                <a:endParaRPr sz="16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grpSp>
        <p:nvGrpSpPr>
          <p:cNvPr id="274" name="Google Shape;274;p13"/>
          <p:cNvGrpSpPr/>
          <p:nvPr/>
        </p:nvGrpSpPr>
        <p:grpSpPr>
          <a:xfrm>
            <a:off x="4476750" y="2000250"/>
            <a:ext cx="3238500" cy="2952900"/>
            <a:chOff x="0" y="0"/>
            <a:chExt cx="3238500" cy="2952900"/>
          </a:xfrm>
        </p:grpSpPr>
        <p:sp>
          <p:nvSpPr>
            <p:cNvPr id="275" name="Google Shape;275;p13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90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6" name="Google Shape;276;p13"/>
            <p:cNvGrpSpPr/>
            <p:nvPr/>
          </p:nvGrpSpPr>
          <p:grpSpPr>
            <a:xfrm>
              <a:off x="228600" y="228600"/>
              <a:ext cx="2781300" cy="2495700"/>
              <a:chOff x="0" y="0"/>
              <a:chExt cx="2781300" cy="2495700"/>
            </a:xfrm>
          </p:grpSpPr>
          <p:sp>
            <p:nvSpPr>
              <p:cNvPr id="277" name="Google Shape;277;p13"/>
              <p:cNvSpPr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3"/>
              <p:cNvSpPr txBox="1"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8A6A1F"/>
                    </a:solidFill>
                    <a:latin typeface="Arial"/>
                    <a:ea typeface="Arial"/>
                    <a:cs typeface="Arial"/>
                    <a:sym typeface="Arial"/>
                  </a:rPr>
                  <a:t>COMPLETE</a:t>
                </a:r>
                <a:endParaRPr sz="14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60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The </a:t>
                </a:r>
                <a:r>
                  <a:rPr lang="en-US" sz="1600" b="1">
                    <a:solidFill>
                      <a:srgbClr val="9C2B26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Craft</a:t>
                </a:r>
                <a:r>
                  <a:rPr lang="en-US" sz="160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. Teach a friend how to make it.</a:t>
                </a:r>
                <a:endParaRPr sz="16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grpSp>
        <p:nvGrpSpPr>
          <p:cNvPr id="279" name="Google Shape;279;p13"/>
          <p:cNvGrpSpPr/>
          <p:nvPr/>
        </p:nvGrpSpPr>
        <p:grpSpPr>
          <a:xfrm>
            <a:off x="8191500" y="2000250"/>
            <a:ext cx="3238500" cy="2952900"/>
            <a:chOff x="0" y="0"/>
            <a:chExt cx="3238500" cy="2952900"/>
          </a:xfrm>
        </p:grpSpPr>
        <p:sp>
          <p:nvSpPr>
            <p:cNvPr id="280" name="Google Shape;280;p13"/>
            <p:cNvSpPr/>
            <p:nvPr/>
          </p:nvSpPr>
          <p:spPr>
            <a:xfrm>
              <a:off x="0" y="0"/>
              <a:ext cx="3238500" cy="2952900"/>
            </a:xfrm>
            <a:prstGeom prst="roundRect">
              <a:avLst>
                <a:gd name="adj" fmla="val 5161"/>
              </a:avLst>
            </a:prstGeom>
            <a:solidFill>
              <a:srgbClr val="FFFFFF">
                <a:alpha val="90000"/>
              </a:srgbClr>
            </a:solidFill>
            <a:ln w="14300" cap="flat" cmpd="sng">
              <a:solidFill>
                <a:srgbClr val="E3DA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13"/>
            <p:cNvGrpSpPr/>
            <p:nvPr/>
          </p:nvGrpSpPr>
          <p:grpSpPr>
            <a:xfrm>
              <a:off x="228600" y="228600"/>
              <a:ext cx="2781300" cy="2495700"/>
              <a:chOff x="0" y="0"/>
              <a:chExt cx="2781300" cy="2495700"/>
            </a:xfrm>
          </p:grpSpPr>
          <p:sp>
            <p:nvSpPr>
              <p:cNvPr id="282" name="Google Shape;282;p13"/>
              <p:cNvSpPr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3"/>
              <p:cNvSpPr txBox="1"/>
              <p:nvPr/>
            </p:nvSpPr>
            <p:spPr>
              <a:xfrm>
                <a:off x="0" y="0"/>
                <a:ext cx="27813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8A6A1F"/>
                    </a:solidFill>
                    <a:latin typeface="Arial"/>
                    <a:ea typeface="Arial"/>
                    <a:cs typeface="Arial"/>
                    <a:sym typeface="Arial"/>
                  </a:rPr>
                  <a:t>REMEMBER</a:t>
                </a:r>
                <a:endParaRPr sz="1400" b="1">
                  <a:solidFill>
                    <a:srgbClr val="8A6A1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60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Bring your leaf/paper </a:t>
                </a:r>
                <a:r>
                  <a:rPr lang="en-US" sz="1600" b="1">
                    <a:solidFill>
                      <a:srgbClr val="9C2B26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‘con trâu’</a:t>
                </a:r>
                <a:r>
                  <a:rPr lang="en-US" sz="1600" b="0">
                    <a:solidFill>
                      <a:srgbClr val="20181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 to class.</a:t>
                </a:r>
                <a:endParaRPr sz="1600">
                  <a:solidFill>
                    <a:srgbClr val="201810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grpSp>
        <p:nvGrpSpPr>
          <p:cNvPr id="284" name="Google Shape;284;p13"/>
          <p:cNvGrpSpPr/>
          <p:nvPr/>
        </p:nvGrpSpPr>
        <p:grpSpPr>
          <a:xfrm>
            <a:off x="762000" y="5334000"/>
            <a:ext cx="10668000" cy="285900"/>
            <a:chOff x="0" y="0"/>
            <a:chExt cx="10668000" cy="285900"/>
          </a:xfrm>
        </p:grpSpPr>
        <p:sp>
          <p:nvSpPr>
            <p:cNvPr id="285" name="Google Shape;285;p13"/>
            <p:cNvSpPr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3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i="1">
                  <a:solidFill>
                    <a:srgbClr val="5C5240"/>
                  </a:solidFill>
                  <a:latin typeface="Georgia"/>
                  <a:ea typeface="Georgia"/>
                  <a:cs typeface="Georgia"/>
                  <a:sym typeface="Georgia"/>
                </a:rPr>
                <a:t>Take your leaf buffalo home with you — finished or not.</a:t>
              </a:r>
              <a:endParaRPr sz="1600" i="1">
                <a:solidFill>
                  <a:srgbClr val="5C524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4"/>
          <p:cNvSpPr txBox="1"/>
          <p:nvPr/>
        </p:nvSpPr>
        <p:spPr>
          <a:xfrm>
            <a:off x="762000" y="2095500"/>
            <a:ext cx="10668000" cy="158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rPr>
              <a:t>Hẹn gặp lại các bạn</a:t>
            </a:r>
            <a:endParaRPr sz="5000" b="1" i="1">
              <a:solidFill>
                <a:srgbClr val="9C2B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5000" b="1" i="1">
                <a:solidFill>
                  <a:srgbClr val="9C2B26"/>
                </a:solidFill>
                <a:latin typeface="Georgia"/>
                <a:ea typeface="Georgia"/>
                <a:cs typeface="Georgia"/>
                <a:sym typeface="Georgia"/>
              </a:rPr>
              <a:t>vào thứ Tư!</a:t>
            </a:r>
            <a:endParaRPr sz="5000" b="1" i="1">
              <a:solidFill>
                <a:srgbClr val="9C2B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762000" y="3952875"/>
            <a:ext cx="10668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>
                <a:solidFill>
                  <a:srgbClr val="8A6A1F"/>
                </a:solidFill>
                <a:latin typeface="Georgia"/>
                <a:ea typeface="Georgia"/>
                <a:cs typeface="Georgia"/>
                <a:sym typeface="Georgia"/>
              </a:rPr>
              <a:t>See you Wednesday</a:t>
            </a:r>
            <a:endParaRPr sz="2200" b="0" i="1">
              <a:solidFill>
                <a:srgbClr val="8A6A1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5524500" y="4572000"/>
            <a:ext cx="1143000" cy="28500"/>
          </a:xfrm>
          <a:prstGeom prst="rect">
            <a:avLst/>
          </a:prstGeom>
          <a:solidFill>
            <a:srgbClr val="9C2B2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4"/>
          <p:cNvSpPr txBox="1"/>
          <p:nvPr/>
        </p:nvSpPr>
        <p:spPr>
          <a:xfrm>
            <a:off x="762000" y="1524000"/>
            <a:ext cx="1066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9C2B26"/>
                </a:solidFill>
                <a:latin typeface="Arial"/>
                <a:ea typeface="Arial"/>
                <a:cs typeface="Arial"/>
                <a:sym typeface="Arial"/>
              </a:rPr>
              <a:t>KẾT THÚC · WRAP-UP</a:t>
            </a:r>
            <a:endParaRPr sz="1300" b="1">
              <a:solidFill>
                <a:srgbClr val="9C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BEA1B10C-890C-5D73-93FF-DD5AE99E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>
            <a:extLst>
              <a:ext uri="{FF2B5EF4-FFF2-40B4-BE49-F238E27FC236}">
                <a16:creationId xmlns:a16="http://schemas.microsoft.com/office/drawing/2014/main" id="{7EFB1B6B-B59C-CE7D-0279-DA402511A7A6}"/>
              </a:ext>
            </a:extLst>
          </p:cNvPr>
          <p:cNvGrpSpPr/>
          <p:nvPr/>
        </p:nvGrpSpPr>
        <p:grpSpPr>
          <a:xfrm>
            <a:off x="7810500" y="571500"/>
            <a:ext cx="3619500" cy="5715000"/>
            <a:chOff x="0" y="0"/>
            <a:chExt cx="3619500" cy="5715000"/>
          </a:xfrm>
        </p:grpSpPr>
        <p:pic>
          <p:nvPicPr>
            <p:cNvPr id="89" name="Google Shape;89;p1" descr="A minimalist and elegant watercolor painting of a single soft pink lotus flower with a delicate green stem and leaf, set against a clean, warm textured cream background, artistic Vietnamese cultural motif, professional presentation style.">
              <a:extLst>
                <a:ext uri="{FF2B5EF4-FFF2-40B4-BE49-F238E27FC236}">
                  <a16:creationId xmlns:a16="http://schemas.microsoft.com/office/drawing/2014/main" id="{82E8D8E2-30C0-8751-33E0-349321C7985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7777" r="7777"/>
            <a:stretch/>
          </p:blipFill>
          <p:spPr>
            <a:xfrm>
              <a:off x="0" y="0"/>
              <a:ext cx="3619500" cy="5715000"/>
            </a:xfrm>
            <a:prstGeom prst="roundRect">
              <a:avLst>
                <a:gd name="adj" fmla="val 5263"/>
              </a:avLst>
            </a:prstGeom>
            <a:noFill/>
            <a:ln>
              <a:noFill/>
            </a:ln>
          </p:spPr>
        </p:pic>
        <p:sp>
          <p:nvSpPr>
            <p:cNvPr id="90" name="Google Shape;90;p1">
              <a:extLst>
                <a:ext uri="{FF2B5EF4-FFF2-40B4-BE49-F238E27FC236}">
                  <a16:creationId xmlns:a16="http://schemas.microsoft.com/office/drawing/2014/main" id="{518961C1-A909-F632-7C9F-02B67E5D084F}"/>
                </a:ext>
              </a:extLst>
            </p:cNvPr>
            <p:cNvSpPr/>
            <p:nvPr/>
          </p:nvSpPr>
          <p:spPr>
            <a:xfrm>
              <a:off x="0" y="0"/>
              <a:ext cx="3619500" cy="5715000"/>
            </a:xfrm>
            <a:prstGeom prst="roundRect">
              <a:avLst>
                <a:gd name="adj" fmla="val 5263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D8CC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02E7DDA3-D6D4-DDBD-A8C2-843BC9CD946F}"/>
              </a:ext>
            </a:extLst>
          </p:cNvPr>
          <p:cNvSpPr txBox="1"/>
          <p:nvPr/>
        </p:nvSpPr>
        <p:spPr>
          <a:xfrm>
            <a:off x="952500" y="1428750"/>
            <a:ext cx="62865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8A6A1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VIET 101 · SECTIONS 001 &amp; 002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8A6A1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800" b="1" i="0" u="none" strike="noStrike" kern="0" cap="none" spc="0" normalizeH="0" baseline="0" noProof="0" dirty="0" err="1">
                <a:ln>
                  <a:noFill/>
                </a:ln>
                <a:solidFill>
                  <a:srgbClr val="20181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Tiếng</a:t>
            </a:r>
            <a:r>
              <a:rPr kumimoji="0" lang="en-US" sz="6800" b="1" i="0" u="none" strike="noStrike" kern="0" cap="none" spc="0" normalizeH="0" baseline="0" noProof="0" dirty="0">
                <a:ln>
                  <a:noFill/>
                </a:ln>
                <a:solidFill>
                  <a:srgbClr val="20181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Việt 101</a:t>
            </a:r>
            <a:endParaRPr kumimoji="0" sz="6800" b="1" i="0" u="none" strike="noStrike" kern="0" cap="none" spc="0" normalizeH="0" baseline="0" noProof="0" dirty="0">
              <a:ln>
                <a:noFill/>
              </a:ln>
              <a:solidFill>
                <a:srgbClr val="20181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5C5240"/>
                </a:solidFill>
                <a:effectLst/>
                <a:uLnTx/>
                <a:uFillTx/>
                <a:latin typeface="Georgia"/>
                <a:ea typeface="Georgia"/>
                <a:cs typeface="Georgia"/>
                <a:sym typeface="Georgia"/>
              </a:rPr>
              <a:t>Elementary Vietnamese I</a:t>
            </a:r>
            <a:endParaRPr kumimoji="0" sz="2400" b="0" i="1" u="none" strike="noStrike" kern="0" cap="none" spc="0" normalizeH="0" baseline="0" noProof="0" dirty="0">
              <a:ln>
                <a:noFill/>
              </a:ln>
              <a:solidFill>
                <a:srgbClr val="5C5240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600" b="1" dirty="0" err="1">
                <a:solidFill>
                  <a:srgbClr val="5C5240"/>
                </a:solidFill>
              </a:rPr>
              <a:t>Thứ</a:t>
            </a:r>
            <a:r>
              <a:rPr lang="en-US" sz="1600" b="1" dirty="0">
                <a:solidFill>
                  <a:srgbClr val="5C5240"/>
                </a:solidFill>
              </a:rPr>
              <a:t> </a:t>
            </a:r>
            <a:r>
              <a:rPr lang="en-US" sz="1600" b="1" dirty="0" err="1">
                <a:solidFill>
                  <a:srgbClr val="5C5240"/>
                </a:solidFill>
              </a:rPr>
              <a:t>sáu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5C524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5C524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ngày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5C524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21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5C524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tháng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5C524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8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5C524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năm</a:t>
            </a:r>
            <a:r>
              <a:rPr lang="en-US" sz="1600" b="1" dirty="0">
                <a:solidFill>
                  <a:srgbClr val="5C5240"/>
                </a:solidFill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5C524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5C524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574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631</Words>
  <Application>Microsoft Macintosh PowerPoint</Application>
  <PresentationFormat>Widescreen</PresentationFormat>
  <Paragraphs>109</Paragraphs>
  <Slides>14</Slides>
  <Notes>14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Huy Phung</cp:lastModifiedBy>
  <cp:revision>4</cp:revision>
  <dcterms:created xsi:type="dcterms:W3CDTF">2013-01-27T09:14:16Z</dcterms:created>
  <dcterms:modified xsi:type="dcterms:W3CDTF">2026-08-21T12:54:21Z</dcterms:modified>
</cp:coreProperties>
</file>